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8" r:id="rId5"/>
    <p:sldId id="258" r:id="rId6"/>
    <p:sldId id="259" r:id="rId7"/>
    <p:sldId id="264" r:id="rId8"/>
    <p:sldId id="275" r:id="rId9"/>
    <p:sldId id="265" r:id="rId10"/>
    <p:sldId id="262" r:id="rId11"/>
    <p:sldId id="263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60864" y="2687492"/>
            <a:ext cx="8298873" cy="2258284"/>
          </a:xfrm>
        </p:spPr>
        <p:txBody>
          <a:bodyPr anchor="b">
            <a:normAutofit fontScale="90000"/>
          </a:bodyPr>
          <a:lstStyle/>
          <a:p>
            <a:pPr algn="ctr">
              <a:lnSpc>
                <a:spcPct val="90000"/>
              </a:lnSpc>
            </a:pPr>
            <a:br>
              <a:rPr lang="es-ES" sz="2400" b="1" dirty="0">
                <a:ea typeface="+mj-lt"/>
                <a:cs typeface="+mj-lt"/>
              </a:rPr>
            </a:br>
            <a:r>
              <a:rPr lang="es-ES" sz="2400" b="1" dirty="0">
                <a:ea typeface="+mj-lt"/>
                <a:cs typeface="+mj-lt"/>
              </a:rPr>
              <a:t>Análisis de </a:t>
            </a:r>
            <a:r>
              <a:rPr lang="en-US" altLang="es-ES" sz="2400" b="1" dirty="0">
                <a:ea typeface="+mj-lt"/>
                <a:cs typeface="+mj-lt"/>
              </a:rPr>
              <a:t>Venta</a:t>
            </a:r>
            <a:r>
              <a:rPr lang="" altLang="en-US" sz="2400" b="1" dirty="0">
                <a:ea typeface="+mj-lt"/>
                <a:cs typeface="+mj-lt"/>
              </a:rPr>
              <a:t>s</a:t>
            </a:r>
            <a:br>
              <a:rPr lang="es-ES" sz="2400" b="0" dirty="0">
                <a:ea typeface="+mj-lt"/>
                <a:cs typeface="+mj-lt"/>
              </a:rPr>
            </a:br>
            <a:br>
              <a:rPr lang="es-ES" sz="2400" b="0" dirty="0">
                <a:ea typeface="+mj-lt"/>
                <a:cs typeface="+mj-lt"/>
              </a:rPr>
            </a:br>
            <a:br>
              <a:rPr lang="es-ES" sz="2400" b="1" dirty="0">
                <a:ea typeface="+mj-lt"/>
                <a:cs typeface="+mj-lt"/>
              </a:rPr>
            </a:br>
            <a:r>
              <a:rPr lang="es-ES" sz="2400" b="1" dirty="0">
                <a:ea typeface="+mj-lt"/>
                <a:cs typeface="+mj-lt"/>
              </a:rPr>
              <a:t>Alba Ventas Gallego</a:t>
            </a:r>
            <a:br>
              <a:rPr lang="es-ES" sz="2400" b="1" dirty="0">
                <a:ea typeface="+mj-lt"/>
                <a:cs typeface="+mj-lt"/>
              </a:rPr>
            </a:br>
            <a:r>
              <a:rPr lang="en-US" altLang="es-ES" sz="2400" b="1" dirty="0">
                <a:ea typeface="+mj-lt"/>
                <a:cs typeface="+mj-lt"/>
              </a:rPr>
              <a:t>Noviembre 2025</a:t>
            </a:r>
            <a:br>
              <a:rPr lang="es-ES" sz="2600" b="0" dirty="0">
                <a:ea typeface="+mj-lt"/>
                <a:cs typeface="+mj-lt"/>
              </a:rPr>
            </a:br>
            <a:endParaRPr lang="es-ES" sz="2600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3049905" y="1070154"/>
            <a:ext cx="6675120" cy="1287887"/>
          </a:xfrm>
        </p:spPr>
        <p:txBody>
          <a:bodyPr>
            <a:normAutofit/>
          </a:bodyPr>
          <a:lstStyle/>
          <a:p>
            <a:pPr algn="ctr"/>
            <a:r>
              <a:rPr lang="es-ES" sz="2000" b="1" dirty="0"/>
              <a:t>Prueba Técnica: </a:t>
            </a:r>
            <a:r>
              <a:rPr lang="es-ES" sz="2000" b="1" dirty="0">
                <a:ea typeface="+mn-lt"/>
                <a:cs typeface="+mn-lt"/>
              </a:rPr>
              <a:t>NEXORA Fintech</a:t>
            </a:r>
            <a:endParaRPr lang="es-ES" sz="20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CONTEXTO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225272" y="1712794"/>
            <a:ext cx="8915400" cy="3777622"/>
          </a:xfrm>
        </p:spPr>
        <p:txBody>
          <a:bodyPr vert="horz" lIns="91440" tIns="45720" rIns="91440" bIns="45720" rtlCol="0" anchor="t">
            <a:normAutofit lnSpcReduction="20000"/>
          </a:bodyPr>
          <a:lstStyle/>
          <a:p>
            <a:pPr algn="l">
              <a:lnSpc>
                <a:spcPct val="150000"/>
              </a:lnSpc>
              <a:buFont typeface="Arial" charset="2"/>
              <a:buChar char="•"/>
            </a:pPr>
            <a:r>
              <a:rPr lang="es-ES" sz="1800" dirty="0">
                <a:ea typeface="+mn-lt"/>
                <a:cs typeface="+mn-lt"/>
              </a:rPr>
              <a:t>NEXORA permite al cliente </a:t>
            </a:r>
            <a:r>
              <a:rPr lang="es-ES" sz="1800" u="sng" dirty="0">
                <a:ea typeface="+mn-lt"/>
                <a:cs typeface="+mn-lt"/>
              </a:rPr>
              <a:t>configurar experiencia financiera</a:t>
            </a:r>
            <a:r>
              <a:rPr lang="es-ES" sz="1800" dirty="0">
                <a:ea typeface="+mn-lt"/>
                <a:cs typeface="+mn-lt"/>
              </a:rPr>
              <a:t> contratando solo lo que necesitan.</a:t>
            </a:r>
            <a:endParaRPr lang="es-ES" sz="1800" dirty="0">
              <a:ea typeface="+mn-lt"/>
              <a:cs typeface="+mn-lt"/>
            </a:endParaRPr>
          </a:p>
          <a:p>
            <a:pPr algn="l">
              <a:lnSpc>
                <a:spcPct val="150000"/>
              </a:lnSpc>
              <a:buFont typeface="Arial" charset="2"/>
              <a:buChar char="•"/>
            </a:pPr>
            <a:r>
              <a:rPr lang="es-ES" sz="1800" b="1" dirty="0">
                <a:ea typeface="+mn-lt"/>
                <a:cs typeface="+mn-lt"/>
              </a:rPr>
              <a:t>Problemática: </a:t>
            </a:r>
            <a:r>
              <a:rPr lang="es-ES" sz="1800" dirty="0">
                <a:ea typeface="+mn-lt"/>
                <a:cs typeface="+mn-lt"/>
              </a:rPr>
              <a:t>tras años de crecimiento:</a:t>
            </a:r>
            <a:endParaRPr lang="es-ES" sz="1800" dirty="0"/>
          </a:p>
          <a:p>
            <a:pPr marL="950595" lvl="2" indent="-285750" algn="l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s-ES" sz="1800" dirty="0">
                <a:ea typeface="+mn-lt"/>
                <a:cs typeface="+mn-lt"/>
              </a:rPr>
              <a:t>Productos con baja tracción</a:t>
            </a:r>
            <a:endParaRPr lang="es-ES" sz="1800" dirty="0"/>
          </a:p>
          <a:p>
            <a:pPr marL="950595" lvl="2" indent="-285750" algn="l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s-ES" sz="1800" dirty="0">
                <a:ea typeface="+mn-lt"/>
                <a:cs typeface="+mn-lt"/>
              </a:rPr>
              <a:t>Solapamientos en la oferta</a:t>
            </a:r>
            <a:endParaRPr lang="es-ES" sz="1800" dirty="0">
              <a:ea typeface="+mn-lt"/>
              <a:cs typeface="+mn-lt"/>
            </a:endParaRPr>
          </a:p>
          <a:p>
            <a:pPr marL="950595" lvl="2" indent="-285750" algn="l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s-ES" sz="1800" dirty="0">
                <a:ea typeface="+mn-lt"/>
                <a:cs typeface="+mn-lt"/>
              </a:rPr>
              <a:t>Pérdida de popularidad en algunos productos</a:t>
            </a:r>
            <a:endParaRPr lang="es-ES" sz="1800" dirty="0">
              <a:ea typeface="+mn-lt"/>
              <a:cs typeface="+mn-lt"/>
            </a:endParaRPr>
          </a:p>
          <a:p>
            <a:pPr algn="l">
              <a:lnSpc>
                <a:spcPct val="150000"/>
              </a:lnSpc>
              <a:buFont typeface="Arial" charset="2"/>
              <a:buChar char="•"/>
            </a:pPr>
            <a:r>
              <a:rPr lang="es-ES" sz="1800" b="1" dirty="0"/>
              <a:t>Objetivo:</a:t>
            </a:r>
            <a:r>
              <a:rPr lang="es-ES" sz="1800" dirty="0"/>
              <a:t> simplificar la experiencia, reducir costes y alinear oferta con demanda.</a:t>
            </a:r>
            <a:endParaRPr lang="es-ES" sz="1800" dirty="0"/>
          </a:p>
          <a:p>
            <a:pPr>
              <a:buFont typeface="Arial" charset="2"/>
              <a:buChar char="•"/>
            </a:pPr>
            <a:endParaRPr lang="es-E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3720" y="613315"/>
            <a:ext cx="8911687" cy="1280890"/>
          </a:xfrm>
        </p:spPr>
        <p:txBody>
          <a:bodyPr>
            <a:normAutofit fontScale="90000"/>
          </a:bodyPr>
          <a:p>
            <a:r>
              <a:rPr lang="en-US" altLang="en-US"/>
              <a:t>OBJETIVOS ANÁLISIS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6142" y="1732915"/>
            <a:ext cx="8915400" cy="3777622"/>
          </a:xfrm>
        </p:spPr>
        <p:txBody>
          <a:bodyPr/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altLang="en-US"/>
              <a:t>Prepara el dataset para el análisis</a:t>
            </a:r>
            <a:endParaRPr lang="en-US" altLang="en-US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altLang="en-US"/>
              <a:t>Identificar productos activos que aportan valor en términos uso</a:t>
            </a:r>
            <a:endParaRPr lang="en-US" altLang="en-US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altLang="en-US"/>
              <a:t>Evolución temporal de los productos</a:t>
            </a:r>
            <a:endParaRPr lang="en-US" altLang="en-US"/>
          </a:p>
          <a:p>
            <a:pPr>
              <a:lnSpc>
                <a:spcPct val="150000"/>
              </a:lnSpc>
              <a:buFont typeface="Arial" panose="02080604020202020204" pitchFamily="34" charset="0"/>
              <a:buChar char="•"/>
            </a:pPr>
            <a:r>
              <a:rPr lang="en-US" altLang="en-US"/>
              <a:t>Analizar combinaciones frecuentes de contratación de productos</a:t>
            </a:r>
            <a:endParaRPr lang="en-US" altLang="en-US"/>
          </a:p>
          <a:p>
            <a:pPr>
              <a:buFont typeface="Arial" panose="02080604020202020204" pitchFamily="34" charset="0"/>
              <a:buChar char="•"/>
            </a:pPr>
            <a:endParaRPr lang="en-US" altLang="en-US"/>
          </a:p>
          <a:p>
            <a:r>
              <a:rPr lang="en-US" altLang="en-US"/>
              <a:t> 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METODOLOGÍA</a:t>
            </a:r>
            <a:endParaRPr lang="es-E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589212" y="2133600"/>
            <a:ext cx="8090770" cy="2827732"/>
          </a:xfrm>
        </p:spPr>
        <p:txBody>
          <a:bodyPr vert="horz" lIns="91440" tIns="45720" rIns="91440" bIns="45720" rtlCol="0" anchor="t">
            <a:normAutofit fontScale="70000"/>
          </a:bodyPr>
          <a:lstStyle/>
          <a:p>
            <a:pPr algn="just">
              <a:lnSpc>
                <a:spcPct val="150000"/>
              </a:lnSpc>
              <a:buFont typeface="Arial" charset="2"/>
              <a:buChar char="•"/>
            </a:pPr>
            <a:r>
              <a:rPr lang="es-ES" dirty="0"/>
              <a:t>Importación librerías y cargar los CSV CONTRATOS y CLIENTES</a:t>
            </a:r>
            <a:endParaRPr lang="es-ES" dirty="0">
              <a:ea typeface="+mn-lt"/>
              <a:cs typeface="+mn-lt"/>
            </a:endParaRPr>
          </a:p>
          <a:p>
            <a:pPr algn="just">
              <a:lnSpc>
                <a:spcPct val="150000"/>
              </a:lnSpc>
              <a:buFont typeface="Arial" charset="2"/>
              <a:buChar char="•"/>
            </a:pPr>
            <a:r>
              <a:rPr lang="es-ES" dirty="0">
                <a:ea typeface="+mn-lt"/>
                <a:cs typeface="+mn-lt"/>
              </a:rPr>
              <a:t>Análisis exploratorio (EDA)</a:t>
            </a:r>
            <a:endParaRPr lang="es-ES" dirty="0">
              <a:ea typeface="+mn-lt"/>
              <a:cs typeface="+mn-lt"/>
            </a:endParaRPr>
          </a:p>
          <a:p>
            <a:pPr lvl="1" algn="just">
              <a:lnSpc>
                <a:spcPct val="150000"/>
              </a:lnSpc>
              <a:buFont typeface="Arial" charset="2"/>
              <a:buChar char="•"/>
            </a:pPr>
            <a:r>
              <a:rPr lang="en-US" altLang="es-ES" dirty="0">
                <a:ea typeface="+mn-lt"/>
                <a:cs typeface="+mn-lt"/>
              </a:rPr>
              <a:t>Estadística descriptiva básica</a:t>
            </a:r>
            <a:endParaRPr lang="en-US" altLang="es-ES" dirty="0">
              <a:ea typeface="+mn-lt"/>
              <a:cs typeface="+mn-lt"/>
            </a:endParaRPr>
          </a:p>
          <a:p>
            <a:pPr lvl="1" algn="just">
              <a:lnSpc>
                <a:spcPct val="150000"/>
              </a:lnSpc>
              <a:buFont typeface="Arial" charset="2"/>
              <a:buChar char="•"/>
            </a:pPr>
            <a:r>
              <a:rPr lang="en-US" altLang="es-ES" dirty="0">
                <a:ea typeface="+mn-lt"/>
                <a:cs typeface="+mn-lt"/>
              </a:rPr>
              <a:t> Detección de Outliers</a:t>
            </a:r>
            <a:endParaRPr lang="es-ES" dirty="0">
              <a:ea typeface="+mn-lt"/>
              <a:cs typeface="+mn-lt"/>
            </a:endParaRPr>
          </a:p>
          <a:p>
            <a:pPr lvl="1" algn="just">
              <a:lnSpc>
                <a:spcPct val="150000"/>
              </a:lnSpc>
              <a:buFont typeface="Arial" charset="2"/>
              <a:buChar char="•"/>
            </a:pPr>
            <a:r>
              <a:rPr lang="es-ES" dirty="0">
                <a:ea typeface="+mn-lt"/>
                <a:cs typeface="+mn-lt"/>
              </a:rPr>
              <a:t>Tratamiento de nulos y duplicados.</a:t>
            </a:r>
            <a:endParaRPr lang="es-ES" dirty="0">
              <a:ea typeface="+mn-lt"/>
              <a:cs typeface="+mn-lt"/>
            </a:endParaRPr>
          </a:p>
          <a:p>
            <a:pPr lvl="1" algn="just">
              <a:lnSpc>
                <a:spcPct val="150000"/>
              </a:lnSpc>
              <a:buFont typeface="Arial" charset="2"/>
              <a:buChar char="•"/>
            </a:pPr>
            <a:r>
              <a:rPr lang="en-US" altLang="es-ES" dirty="0">
                <a:ea typeface="+mn-lt"/>
                <a:cs typeface="+mn-lt"/>
              </a:rPr>
              <a:t>Transform</a:t>
            </a:r>
            <a:r>
              <a:rPr lang="es-ES" dirty="0">
                <a:ea typeface="+mn-lt"/>
                <a:cs typeface="+mn-lt"/>
              </a:rPr>
              <a:t>Ajuste datos </a:t>
            </a:r>
            <a:r>
              <a:rPr lang="en-US" altLang="es-ES" dirty="0">
                <a:ea typeface="+mn-lt"/>
                <a:cs typeface="+mn-lt"/>
              </a:rPr>
              <a:t>( fechas/creación año_mes/agrupaciones)</a:t>
            </a:r>
            <a:endParaRPr lang="es-ES"/>
          </a:p>
          <a:p>
            <a:pPr algn="just">
              <a:lnSpc>
                <a:spcPct val="150000"/>
              </a:lnSpc>
              <a:buFont typeface="Arial" charset="2"/>
              <a:buChar char="•"/>
            </a:pPr>
            <a:r>
              <a:rPr lang="en-US" altLang="es-ES" dirty="0">
                <a:ea typeface="+mn-lt"/>
                <a:cs typeface="+mn-lt"/>
              </a:rPr>
              <a:t>Análisis datos y visualizaciones</a:t>
            </a:r>
            <a:r>
              <a:rPr lang="es-ES" dirty="0">
                <a:ea typeface="+mn-lt"/>
                <a:cs typeface="+mn-lt"/>
              </a:rPr>
              <a:t> </a:t>
            </a:r>
            <a:endParaRPr lang="es-ES" dirty="0">
              <a:ea typeface="+mn-lt"/>
              <a:cs typeface="+mn-lt"/>
            </a:endParaRPr>
          </a:p>
          <a:p>
            <a:pPr marL="0" indent="0">
              <a:buNone/>
            </a:pPr>
            <a:endParaRPr lang="es-ES" dirty="0"/>
          </a:p>
          <a:p>
            <a:pPr>
              <a:buFont typeface="Arial" charset="2"/>
              <a:buChar char="•"/>
            </a:pPr>
            <a:endParaRPr lang="es-E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HALLAZGOS</a:t>
            </a:r>
            <a:endParaRPr lang="es-ES" b="1" dirty="0"/>
          </a:p>
        </p:txBody>
      </p:sp>
      <p:sp>
        <p:nvSpPr>
          <p:cNvPr id="4" name="Marcador de contenido 3"/>
          <p:cNvSpPr>
            <a:spLocks noGrp="1"/>
          </p:cNvSpPr>
          <p:nvPr>
            <p:ph idx="1"/>
          </p:nvPr>
        </p:nvSpPr>
        <p:spPr>
          <a:xfrm>
            <a:off x="730250" y="1285240"/>
            <a:ext cx="11045825" cy="5153025"/>
          </a:xfrm>
        </p:spPr>
        <p:txBody>
          <a:bodyPr vert="horz" lIns="91440" tIns="45720" rIns="91440" bIns="45720" rtlCol="0" anchor="t">
            <a:normAutofit lnSpcReduction="20000"/>
          </a:bodyPr>
          <a:lstStyle/>
          <a:p>
            <a:pPr marL="971550" lvl="4" indent="-285750">
              <a:buFont typeface="Arial" panose="02080604020202020204" pitchFamily="34" charset="0"/>
              <a:buChar char="•"/>
            </a:pPr>
            <a:endParaRPr lang="es-ES" sz="1200" dirty="0"/>
          </a:p>
          <a:p>
            <a:pPr>
              <a:buFont typeface="Arial" charset="2"/>
              <a:buChar char="•"/>
            </a:pPr>
            <a:r>
              <a:rPr lang="en-US" altLang="es-ES" sz="1200" b="1" dirty="0">
                <a:ea typeface="+mn-lt"/>
                <a:cs typeface="+mn-lt"/>
                <a:sym typeface="+mn-ea"/>
              </a:rPr>
              <a:t>Distribución no simétria. Empleo de la </a:t>
            </a:r>
            <a:r>
              <a:rPr lang="es-ES" sz="1200" dirty="0">
                <a:ea typeface="+mn-lt"/>
                <a:cs typeface="+mn-lt"/>
                <a:sym typeface="+mn-ea"/>
              </a:rPr>
              <a:t> </a:t>
            </a:r>
            <a:r>
              <a:rPr lang="en-US" altLang="es-ES" sz="1200" dirty="0">
                <a:ea typeface="+mn-lt"/>
                <a:cs typeface="+mn-lt"/>
                <a:sym typeface="+mn-ea"/>
              </a:rPr>
              <a:t>MEDIANA  = 267,5 </a:t>
            </a:r>
            <a:r>
              <a:rPr lang="en-US" altLang="es-ES" sz="1200" b="1" dirty="0">
                <a:ea typeface="+mn-lt"/>
                <a:cs typeface="+mn-lt"/>
                <a:sym typeface="+mn-ea"/>
              </a:rPr>
              <a:t>para fijar el precio unitario por uso lo que permite calcular los ingresos por productos.</a:t>
            </a:r>
            <a:endParaRPr lang="en-US" altLang="es-ES" sz="1200" b="1" dirty="0">
              <a:ea typeface="+mn-lt"/>
              <a:cs typeface="+mn-lt"/>
              <a:sym typeface="+mn-ea"/>
            </a:endParaRPr>
          </a:p>
          <a:p>
            <a:pPr>
              <a:buFont typeface="Arial" charset="2"/>
              <a:buChar char="•"/>
            </a:pPr>
            <a:endParaRPr lang="en-US" altLang="es-ES" sz="1200" b="1" dirty="0">
              <a:ea typeface="+mn-lt"/>
              <a:cs typeface="+mn-lt"/>
              <a:sym typeface="+mn-ea"/>
            </a:endParaRPr>
          </a:p>
          <a:p>
            <a:pPr marL="0" indent="0">
              <a:buFont typeface="Arial" charset="2"/>
              <a:buNone/>
            </a:pPr>
            <a:endParaRPr lang="en-US" altLang="es-ES" sz="1200" b="1" dirty="0">
              <a:ea typeface="+mn-lt"/>
              <a:cs typeface="+mn-lt"/>
              <a:sym typeface="+mn-ea"/>
            </a:endParaRPr>
          </a:p>
          <a:p>
            <a:pPr>
              <a:buFont typeface="Arial" charset="2"/>
              <a:buChar char="•"/>
            </a:pPr>
            <a:endParaRPr lang="es-ES" sz="1200" dirty="0">
              <a:ea typeface="+mn-lt"/>
              <a:cs typeface="+mn-lt"/>
              <a:sym typeface="+mn-ea"/>
            </a:endParaRPr>
          </a:p>
          <a:p>
            <a:pPr>
              <a:buFont typeface="Arial" charset="2"/>
              <a:buChar char="•"/>
            </a:pPr>
            <a:endParaRPr lang="es-ES" sz="1200" b="1" dirty="0">
              <a:ea typeface="+mn-lt"/>
              <a:cs typeface="+mn-lt"/>
              <a:sym typeface="+mn-ea"/>
            </a:endParaRPr>
          </a:p>
          <a:p>
            <a:pPr>
              <a:buFont typeface="Arial" charset="2"/>
              <a:buChar char="•"/>
            </a:pPr>
            <a:endParaRPr lang="es-ES" sz="1200" b="1" dirty="0">
              <a:ea typeface="+mn-lt"/>
              <a:cs typeface="+mn-lt"/>
              <a:sym typeface="+mn-ea"/>
            </a:endParaRPr>
          </a:p>
          <a:p>
            <a:pPr>
              <a:buFont typeface="Arial" charset="2"/>
              <a:buChar char="•"/>
            </a:pPr>
            <a:endParaRPr lang="es-ES" sz="1200" b="1" dirty="0">
              <a:ea typeface="+mn-lt"/>
              <a:cs typeface="+mn-lt"/>
              <a:sym typeface="+mn-ea"/>
            </a:endParaRPr>
          </a:p>
          <a:p>
            <a:pPr>
              <a:buFont typeface="Arial" charset="2"/>
              <a:buChar char="•"/>
            </a:pPr>
            <a:endParaRPr lang="es-ES" sz="1200" b="1" dirty="0">
              <a:ea typeface="+mn-lt"/>
              <a:cs typeface="+mn-lt"/>
              <a:sym typeface="+mn-ea"/>
            </a:endParaRPr>
          </a:p>
          <a:p>
            <a:pPr>
              <a:buFont typeface="Arial" charset="2"/>
              <a:buChar char="•"/>
            </a:pPr>
            <a:r>
              <a:rPr lang="es-ES" sz="1200" b="1" dirty="0">
                <a:ea typeface="+mn-lt"/>
                <a:cs typeface="+mn-lt"/>
              </a:rPr>
              <a:t>Top 5 productos más contratados en términos de uso</a:t>
            </a:r>
            <a:r>
              <a:rPr lang="es-ES" sz="1200" dirty="0">
                <a:ea typeface="+mn-lt"/>
                <a:cs typeface="+mn-lt"/>
              </a:rPr>
              <a:t>→ Más contratos &gt; Mayor demanda.</a:t>
            </a:r>
            <a:endParaRPr lang="es-ES" sz="1420" dirty="0">
              <a:ea typeface="+mn-lt"/>
              <a:cs typeface="+mn-lt"/>
            </a:endParaRPr>
          </a:p>
          <a:p>
            <a:pPr>
              <a:buFont typeface="Arial" charset="2"/>
              <a:buChar char="•"/>
            </a:pPr>
            <a:endParaRPr lang="es-ES" dirty="0"/>
          </a:p>
          <a:p>
            <a:pPr marL="914400" lvl="2" indent="0" algn="ctr">
              <a:buNone/>
            </a:pPr>
            <a:endParaRPr lang="es-ES" sz="1600"/>
          </a:p>
          <a:p>
            <a:pPr marL="914400" lvl="2" indent="0" algn="l">
              <a:buNone/>
            </a:pPr>
            <a:endParaRPr lang="es-E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60" y="4522470"/>
            <a:ext cx="9495155" cy="1666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690" y="1905000"/>
            <a:ext cx="2459355" cy="1794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b="1" dirty="0">
                <a:sym typeface="+mn-ea"/>
              </a:rPr>
              <a:t>HALLAZGOS</a:t>
            </a:r>
            <a:br>
              <a:rPr lang="es-ES" b="1" dirty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2387" y="1539875"/>
            <a:ext cx="8915400" cy="3777622"/>
          </a:xfrm>
        </p:spPr>
        <p:txBody>
          <a:bodyPr>
            <a:normAutofit/>
          </a:bodyPr>
          <a:p>
            <a:pPr algn="just">
              <a:buFont typeface="Arial" charset="2"/>
              <a:buChar char="•"/>
            </a:pPr>
            <a:r>
              <a:rPr lang="en-US" altLang="es-ES" b="1" dirty="0">
                <a:ea typeface="+mn-lt"/>
                <a:cs typeface="+mn-lt"/>
                <a:sym typeface="+mn-ea"/>
              </a:rPr>
              <a:t>Numero </a:t>
            </a:r>
            <a:r>
              <a:rPr lang="es-ES" b="1" dirty="0">
                <a:ea typeface="+mn-lt"/>
                <a:cs typeface="+mn-lt"/>
                <a:sym typeface="+mn-ea"/>
              </a:rPr>
              <a:t>Productos con baja demanda</a:t>
            </a:r>
            <a:r>
              <a:rPr lang="es-ES" dirty="0">
                <a:ea typeface="+mn-lt"/>
                <a:cs typeface="+mn-lt"/>
                <a:sym typeface="+mn-ea"/>
              </a:rPr>
              <a:t> </a:t>
            </a:r>
            <a:r>
              <a:rPr lang="en-US" altLang="es-ES" dirty="0">
                <a:ea typeface="+mn-lt"/>
                <a:cs typeface="+mn-lt"/>
                <a:sym typeface="+mn-ea"/>
              </a:rPr>
              <a:t>: 9  (umbral bajo = percentil 25)</a:t>
            </a:r>
            <a:endParaRPr lang="es-ES" dirty="0">
              <a:ea typeface="+mn-lt"/>
              <a:cs typeface="+mn-lt"/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/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 algn="just">
              <a:buFont typeface="Arial" charset="2"/>
              <a:buChar char="•"/>
            </a:pPr>
            <a:endParaRPr lang="en-US" altLang="es-ES" b="1">
              <a:sym typeface="+mn-ea"/>
            </a:endParaRPr>
          </a:p>
          <a:p>
            <a:pPr>
              <a:buFont typeface="Arial" charset="2"/>
              <a:buChar char="•"/>
            </a:pP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5430" y="2146300"/>
            <a:ext cx="4913630" cy="3882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02520"/>
            <a:ext cx="8911687" cy="1280890"/>
          </a:xfrm>
        </p:spPr>
        <p:txBody>
          <a:bodyPr/>
          <a:p>
            <a:r>
              <a:rPr lang="en-US" altLang="en-US" b="1"/>
              <a:t>HALLAZGOS</a:t>
            </a:r>
            <a:endParaRPr lang="en-US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8617" y="1400175"/>
            <a:ext cx="8915400" cy="3777622"/>
          </a:xfrm>
        </p:spPr>
        <p:txBody>
          <a:bodyPr/>
          <a:p>
            <a:pPr algn="just">
              <a:buFont typeface="Arial" charset="2"/>
              <a:buChar char="•"/>
            </a:pPr>
            <a:r>
              <a:rPr lang="en-US" altLang="es-ES" b="1">
                <a:sym typeface="+mn-ea"/>
              </a:rPr>
              <a:t>Evolucion temporal </a:t>
            </a:r>
            <a:r>
              <a:rPr lang="en-US" altLang="es-ES">
                <a:sym typeface="+mn-ea"/>
              </a:rPr>
              <a:t>de los productos avtivos por mes y de los clientes activos por mes</a:t>
            </a:r>
            <a:endParaRPr lang="en-US"/>
          </a:p>
          <a:p>
            <a:pPr>
              <a:buFont typeface="Arial" charset="2"/>
              <a:buChar char="•"/>
            </a:pPr>
            <a:endParaRPr lang="en-US"/>
          </a:p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2092960"/>
            <a:ext cx="5805170" cy="23926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800" y="3639820"/>
            <a:ext cx="5854065" cy="2905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HALLAZGOS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9322" y="1539875"/>
            <a:ext cx="8915400" cy="3777622"/>
          </a:xfrm>
        </p:spPr>
        <p:txBody>
          <a:bodyPr/>
          <a:p>
            <a:pPr>
              <a:buFont typeface="Arial" charset="2"/>
              <a:buChar char="•"/>
            </a:pPr>
            <a:r>
              <a:rPr lang="es-ES" b="1" dirty="0">
                <a:ea typeface="+mn-lt"/>
                <a:cs typeface="+mn-lt"/>
                <a:sym typeface="+mn-ea"/>
              </a:rPr>
              <a:t>Combinaciones frecuentes de </a:t>
            </a:r>
            <a:r>
              <a:rPr lang="" altLang="es-ES" b="1" dirty="0">
                <a:ea typeface="+mn-lt"/>
                <a:cs typeface="+mn-lt"/>
                <a:sym typeface="+mn-ea"/>
              </a:rPr>
              <a:t>productos</a:t>
            </a:r>
            <a:r>
              <a:rPr lang="es-ES" b="1" dirty="0">
                <a:ea typeface="+mn-lt"/>
                <a:cs typeface="+mn-lt"/>
                <a:sym typeface="+mn-ea"/>
              </a:rPr>
              <a:t> contratación</a:t>
            </a:r>
            <a:r>
              <a:rPr lang="es-ES" dirty="0">
                <a:ea typeface="+mn-lt"/>
                <a:cs typeface="+mn-lt"/>
                <a:sym typeface="+mn-ea"/>
              </a:rPr>
              <a:t> </a:t>
            </a:r>
            <a:endParaRPr lang="es-ES" dirty="0">
              <a:ea typeface="+mn-lt"/>
              <a:cs typeface="+mn-lt"/>
            </a:endParaRPr>
          </a:p>
          <a:p>
            <a:pPr>
              <a:buFont typeface="Arial" charset="2"/>
              <a:buChar char="•"/>
            </a:pP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1605" y="2263140"/>
            <a:ext cx="6657340" cy="39681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IMPLICACIONES ESTRATÉGICAS</a:t>
            </a:r>
            <a:endParaRPr lang="es-E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09040" y="2352040"/>
            <a:ext cx="10570845" cy="261048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200000"/>
              </a:lnSpc>
              <a:buFont typeface="Arial" charset="2"/>
              <a:buChar char="•"/>
            </a:pPr>
            <a:r>
              <a:rPr lang="es-ES" dirty="0">
                <a:ea typeface="+mn-lt"/>
                <a:cs typeface="+mn-lt"/>
              </a:rPr>
              <a:t>Simplificar catálogo eliminando productos con poca demanda.</a:t>
            </a:r>
            <a:endParaRPr lang="es-ES" dirty="0"/>
          </a:p>
          <a:p>
            <a:pPr>
              <a:lnSpc>
                <a:spcPct val="200000"/>
              </a:lnSpc>
              <a:buFont typeface="Arial" charset="2"/>
              <a:buChar char="•"/>
            </a:pPr>
            <a:r>
              <a:rPr lang="es-ES" dirty="0">
                <a:ea typeface="+mn-lt"/>
                <a:cs typeface="+mn-lt"/>
              </a:rPr>
              <a:t>Reforzar los productos más contratados y rentables.</a:t>
            </a:r>
            <a:endParaRPr lang="es-ES" dirty="0"/>
          </a:p>
          <a:p>
            <a:pPr>
              <a:lnSpc>
                <a:spcPct val="200000"/>
              </a:lnSpc>
              <a:buFont typeface="Arial" charset="2"/>
              <a:buChar char="•"/>
            </a:pPr>
            <a:r>
              <a:rPr lang="es-ES" dirty="0">
                <a:ea typeface="+mn-lt"/>
                <a:cs typeface="+mn-lt"/>
              </a:rPr>
              <a:t>Analizar combinaciones para diseñar paquetes atractivos.</a:t>
            </a:r>
            <a:endParaRPr lang="es-ES" dirty="0"/>
          </a:p>
          <a:p>
            <a:pPr>
              <a:lnSpc>
                <a:spcPct val="200000"/>
              </a:lnSpc>
              <a:buFont typeface="Arial" charset="2"/>
              <a:buChar char="•"/>
            </a:pPr>
            <a:r>
              <a:rPr lang="es-ES" dirty="0">
                <a:ea typeface="+mn-lt"/>
                <a:cs typeface="+mn-lt"/>
              </a:rPr>
              <a:t>Ajustar campañas de marketing a la estacionalidad detectada.</a:t>
            </a:r>
            <a:endParaRPr lang="es-ES" dirty="0"/>
          </a:p>
          <a:p>
            <a:pPr>
              <a:buFont typeface="Arial" charset="2"/>
              <a:buChar char="•"/>
            </a:pPr>
            <a:endParaRPr lang="es-E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27102" y="692325"/>
            <a:ext cx="9566694" cy="754380"/>
          </a:xfrm>
        </p:spPr>
        <p:txBody>
          <a:bodyPr/>
          <a:lstStyle/>
          <a:p>
            <a:r>
              <a:rPr lang="es-ES" b="1" dirty="0"/>
              <a:t>CONCLUSIONES</a:t>
            </a:r>
            <a:endParaRPr lang="es-E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728384" y="2210124"/>
            <a:ext cx="9775591" cy="2910240"/>
          </a:xfrm>
        </p:spPr>
        <p:txBody>
          <a:bodyPr vert="horz" lIns="91440" tIns="45720" rIns="91440" bIns="45720" rtlCol="0" anchor="t">
            <a:normAutofit fontScale="70000"/>
          </a:bodyPr>
          <a:lstStyle/>
          <a:p>
            <a:pPr algn="just">
              <a:lnSpc>
                <a:spcPct val="150000"/>
              </a:lnSpc>
              <a:buFont typeface="Arial" charset="2"/>
              <a:buChar char="•"/>
            </a:pPr>
            <a:r>
              <a:rPr lang="es-ES" dirty="0">
                <a:ea typeface="+mn-lt"/>
                <a:cs typeface="+mn-lt"/>
              </a:rPr>
              <a:t>El análisis permite</a:t>
            </a:r>
            <a:r>
              <a:rPr lang="es-ES" b="1" dirty="0">
                <a:ea typeface="+mn-lt"/>
                <a:cs typeface="+mn-lt"/>
              </a:rPr>
              <a:t> identificar los productos </a:t>
            </a:r>
            <a:r>
              <a:rPr lang="es-ES" dirty="0">
                <a:ea typeface="+mn-lt"/>
                <a:cs typeface="+mn-lt"/>
              </a:rPr>
              <a:t>que sostienen el negocio </a:t>
            </a:r>
            <a:r>
              <a:rPr lang="" altLang="es-ES" dirty="0">
                <a:ea typeface="+mn-lt"/>
                <a:cs typeface="+mn-lt"/>
              </a:rPr>
              <a:t>así como los 9 productos con baja aceptación.</a:t>
            </a:r>
            <a:r>
              <a:rPr lang="es-ES" dirty="0">
                <a:ea typeface="+mn-lt"/>
                <a:cs typeface="+mn-lt"/>
              </a:rPr>
              <a:t> Se recomienda </a:t>
            </a:r>
            <a:r>
              <a:rPr lang="es-ES" b="1" dirty="0">
                <a:ea typeface="+mn-lt"/>
                <a:cs typeface="+mn-lt"/>
              </a:rPr>
              <a:t>optimizar el catálogo de productos</a:t>
            </a:r>
            <a:r>
              <a:rPr lang="es-ES" dirty="0">
                <a:ea typeface="+mn-lt"/>
                <a:cs typeface="+mn-lt"/>
              </a:rPr>
              <a:t> para mejorar la experiencia y poder reducir costes.</a:t>
            </a:r>
            <a:endParaRPr lang="es-ES" dirty="0">
              <a:ea typeface="+mn-lt"/>
              <a:cs typeface="+mn-lt"/>
            </a:endParaRPr>
          </a:p>
          <a:p>
            <a:pPr algn="just">
              <a:lnSpc>
                <a:spcPct val="150000"/>
              </a:lnSpc>
              <a:buFont typeface="Arial" charset="2"/>
              <a:buChar char="•"/>
            </a:pPr>
            <a:r>
              <a:rPr lang="es-ES" dirty="0">
                <a:ea typeface="+mn-lt"/>
                <a:cs typeface="+mn-lt"/>
              </a:rPr>
              <a:t>La evolución temporal en la elección de los </a:t>
            </a:r>
            <a:r>
              <a:rPr lang="en-US" altLang="es-ES" dirty="0">
                <a:ea typeface="+mn-lt"/>
                <a:cs typeface="+mn-lt"/>
              </a:rPr>
              <a:t>productos por parte del</a:t>
            </a:r>
            <a:r>
              <a:rPr lang="es-ES" dirty="0">
                <a:ea typeface="+mn-lt"/>
                <a:cs typeface="+mn-lt"/>
              </a:rPr>
              <a:t> clientes sugiere que la demanda depende de factores externos como las campañas estacionales por lo que es interesante realizar</a:t>
            </a:r>
            <a:r>
              <a:rPr lang="es-ES" b="1" dirty="0">
                <a:ea typeface="+mn-lt"/>
                <a:cs typeface="+mn-lt"/>
              </a:rPr>
              <a:t> campañas más focalizadas</a:t>
            </a:r>
            <a:r>
              <a:rPr lang="es-ES" dirty="0">
                <a:ea typeface="+mn-lt"/>
                <a:cs typeface="+mn-lt"/>
              </a:rPr>
              <a:t>.</a:t>
            </a:r>
            <a:endParaRPr lang="es-ES" dirty="0">
              <a:ea typeface="+mn-lt"/>
              <a:cs typeface="+mn-lt"/>
            </a:endParaRPr>
          </a:p>
          <a:p>
            <a:pPr algn="just">
              <a:lnSpc>
                <a:spcPct val="150000"/>
              </a:lnSpc>
              <a:buFont typeface="Arial" charset="2"/>
              <a:buChar char="•"/>
            </a:pPr>
            <a:r>
              <a:rPr lang="" altLang="es-ES" dirty="0">
                <a:ea typeface="+mn-lt"/>
                <a:cs typeface="+mn-lt"/>
              </a:rPr>
              <a:t>Detectamos las </a:t>
            </a:r>
            <a:r>
              <a:rPr lang="" altLang="es-ES" b="1" dirty="0">
                <a:ea typeface="+mn-lt"/>
                <a:cs typeface="+mn-lt"/>
              </a:rPr>
              <a:t>principales combinaciones de productos</a:t>
            </a:r>
            <a:r>
              <a:rPr lang="" altLang="es-ES" dirty="0">
                <a:ea typeface="+mn-lt"/>
                <a:cs typeface="+mn-lt"/>
              </a:rPr>
              <a:t> para establecer recomendaciones automáticas al consumidor a través de la web, crear paquetes comerciales o aplicar descuentos al adquirir los 2 productos de forma conjuntos.</a:t>
            </a:r>
            <a:endParaRPr lang="es-ES" dirty="0">
              <a:ea typeface="+mn-lt"/>
              <a:cs typeface="+mn-lt"/>
            </a:endParaRPr>
          </a:p>
          <a:p>
            <a:pPr marL="0" indent="0" algn="just">
              <a:buFont typeface="Arial" charset="2"/>
              <a:buNone/>
            </a:pPr>
            <a:endParaRPr lang="es-ES"/>
          </a:p>
          <a:p>
            <a:pPr marL="0" indent="0">
              <a:buNone/>
            </a:pPr>
            <a:endParaRPr lang="es-ES" dirty="0"/>
          </a:p>
          <a:p>
            <a:pPr>
              <a:buFont typeface="Arial" charset="2"/>
              <a:buChar char="•"/>
            </a:pPr>
            <a:endParaRPr lang="es-E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2296</Words>
  <Application>WPS Presentation</Application>
  <PresentationFormat>Panorámica</PresentationFormat>
  <Paragraphs>112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Wingdings 3</vt:lpstr>
      <vt:lpstr>Arial</vt:lpstr>
      <vt:lpstr>Arial</vt:lpstr>
      <vt:lpstr>Courier New</vt:lpstr>
      <vt:lpstr>Century Gothic</vt:lpstr>
      <vt:lpstr>URW Bookman</vt:lpstr>
      <vt:lpstr>微软雅黑</vt:lpstr>
      <vt:lpstr>Droid Sans Fallback</vt:lpstr>
      <vt:lpstr>DejaVu Sans</vt:lpstr>
      <vt:lpstr/>
      <vt:lpstr>Arial Unicode MS</vt:lpstr>
      <vt:lpstr>Calibri</vt:lpstr>
      <vt:lpstr>Standard Symbols PS</vt:lpstr>
      <vt:lpstr>Wisp</vt:lpstr>
      <vt:lpstr> Análisis de Ventas: optimizando nuestra empresa   Alba Ventas Gallego Noviembre 2025 </vt:lpstr>
      <vt:lpstr>CONTEXTO</vt:lpstr>
      <vt:lpstr>OBJETIVOS ANÁLISIS  </vt:lpstr>
      <vt:lpstr>METODOLOGÍA</vt:lpstr>
      <vt:lpstr>HALLAZGOS</vt:lpstr>
      <vt:lpstr>HALLAZGOS </vt:lpstr>
      <vt:lpstr>HALLAZGOS</vt:lpstr>
      <vt:lpstr>HALLAZGOS</vt:lpstr>
      <vt:lpstr>IMPLICACIONES ESTRATÉGICAS</vt:lpstr>
      <vt:lpstr>CONCLUSIONES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alba</cp:lastModifiedBy>
  <cp:revision>263</cp:revision>
  <dcterms:created xsi:type="dcterms:W3CDTF">2025-12-08T11:21:05Z</dcterms:created>
  <dcterms:modified xsi:type="dcterms:W3CDTF">2025-12-08T11:21:05Z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